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34d0907-5b7c-22dc-57f1-5a6e968fd6bf}">
          <p14:sldIdLst>
            <p14:sldId id="256"/>
          </p14:sldIdLst>
        </p14:section>
        <p14:section name="Basics" id="{0d253409-8ec5-2ca0-e226-376ffe108cb5}">
          <p14:sldIdLst>
            <p14:sldId id="257"/>
            <p14:sldId id="258"/>
            <p14:sldId id="259"/>
          </p14:sldIdLst>
        </p14:section>
        <p14:section name="Testing" id="{3c7d01c3-a4e7-b095-8b63-908bc167bef2}">
          <p14:sldIdLst>
            <p14:sldId id="260"/>
            <p14:sldId id="261"/>
            <p14:sldId id="262"/>
            <p14:sldId id="263"/>
            <p14:sldId id="264"/>
          </p14:sldIdLst>
        </p14:section>
        <p14:section name="Wrap Up" id="{3811a31e-b8f5-0b77-4a63-74ffed8de0e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learn about edge cases. These are values at the very limit of what a program allows. Most bugs hide there, so a good tester always checks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lift can carry 8 people. Empty lift and exactly 8 people are edge cases. Nine people is outside the limit and the alarm rings. Programs have limits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says marks are 0 to 100. The teal middle is normal. Yellow values are edge cases because they sit on the limit. Red values break the rule. Most bugs are found in yellow and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apps fail when nobody tests the edges. An order for zero items, a score that goes too high, or a negative age all look silly or even cause crashes.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called boundary testing. For the rule 0 to 100 we test minus 1, 0, 1 near the bottom and 99, 100, 101 near the top, plus one middle value like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five sneaky inputs to try on any program: empty, zero, negative, the biggest value, and the wrong type such as letters in a number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code finds the average of marks. Normally it works. But with an empty list we divide by zero and the program crashes. One if line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read the rule, find the limits, pick test values just below, on and above each limit, then run and fix. Repeat for every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class activity. Cover the right column and ask students whether the app should accept or reject each password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 and let the class answer before showing the yellow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an edge case is a limit or odd input. Test below, on and above every limit. Remember the sneaky five.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05840"/>
            <a:ext cx="4389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4206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058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Edge Cases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Spot the tricky inputs before they break your program</a:t>
            </a:r>
            <a:endParaRPr lang="en-US" sz="2000" dirty="0"/>
          </a:p>
        </p:txBody>
      </p:sp>
      <p:sp>
        <p:nvSpPr>
          <p:cNvPr id="4" name="card-1"/>
          <p:cNvSpPr/>
          <p:nvPr/>
        </p:nvSpPr>
        <p:spPr>
          <a:xfrm>
            <a:off x="4937760" y="822960"/>
            <a:ext cx="3749040" cy="3383280"/>
          </a:xfrm>
          <a:prstGeom prst="roundRect">
            <a:avLst>
              <a:gd name="adj" fmla="val 4054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512064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Rule: allowed numbers are 1 to 10</a:t>
            </a:r>
            <a:endParaRPr lang="en-US" sz="1400" dirty="0"/>
          </a:p>
        </p:txBody>
      </p:sp>
      <p:sp>
        <p:nvSpPr>
          <p:cNvPr id="6" name="chip-3"/>
          <p:cNvSpPr txBox="1"/>
          <p:nvPr/>
        </p:nvSpPr>
        <p:spPr>
          <a:xfrm>
            <a:off x="5120640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7" name="chip-4"/>
          <p:cNvSpPr txBox="1"/>
          <p:nvPr/>
        </p:nvSpPr>
        <p:spPr>
          <a:xfrm>
            <a:off x="5596128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hip-5"/>
          <p:cNvSpPr txBox="1"/>
          <p:nvPr/>
        </p:nvSpPr>
        <p:spPr>
          <a:xfrm>
            <a:off x="6071616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-6"/>
          <p:cNvSpPr txBox="1"/>
          <p:nvPr/>
        </p:nvSpPr>
        <p:spPr>
          <a:xfrm>
            <a:off x="6547104" y="16459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...</a:t>
            </a:r>
            <a:endParaRPr lang="en-US" sz="1800" dirty="0"/>
          </a:p>
        </p:txBody>
      </p:sp>
      <p:sp>
        <p:nvSpPr>
          <p:cNvPr id="10" name="chip-7"/>
          <p:cNvSpPr txBox="1"/>
          <p:nvPr/>
        </p:nvSpPr>
        <p:spPr>
          <a:xfrm>
            <a:off x="7022592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9</a:t>
            </a:r>
            <a:endParaRPr lang="en-US" sz="1300" dirty="0"/>
          </a:p>
        </p:txBody>
      </p:sp>
      <p:sp>
        <p:nvSpPr>
          <p:cNvPr id="11" name="chip-8"/>
          <p:cNvSpPr txBox="1"/>
          <p:nvPr/>
        </p:nvSpPr>
        <p:spPr>
          <a:xfrm>
            <a:off x="7498080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12" name="chip-9"/>
          <p:cNvSpPr txBox="1"/>
          <p:nvPr/>
        </p:nvSpPr>
        <p:spPr>
          <a:xfrm>
            <a:off x="7973568" y="1645920"/>
            <a:ext cx="411480" cy="54864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13" name="text-10"/>
          <p:cNvSpPr txBox="1"/>
          <p:nvPr/>
        </p:nvSpPr>
        <p:spPr>
          <a:xfrm>
            <a:off x="512064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RED = outside the rule</a:t>
            </a:r>
            <a:endParaRPr lang="en-US" sz="1300" dirty="0"/>
          </a:p>
        </p:txBody>
      </p:sp>
      <p:sp>
        <p:nvSpPr>
          <p:cNvPr id="14" name="text-11"/>
          <p:cNvSpPr txBox="1"/>
          <p:nvPr/>
        </p:nvSpPr>
        <p:spPr>
          <a:xfrm>
            <a:off x="51206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YELLOW = on the limit (edge!)</a:t>
            </a:r>
            <a:endParaRPr lang="en-US" sz="1300" dirty="0"/>
          </a:p>
        </p:txBody>
      </p:sp>
      <p:sp>
        <p:nvSpPr>
          <p:cNvPr id="15" name="text-12"/>
          <p:cNvSpPr txBox="1"/>
          <p:nvPr/>
        </p:nvSpPr>
        <p:spPr>
          <a:xfrm>
            <a:off x="51206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GREEN = everyday values</a:t>
            </a:r>
            <a:endParaRPr lang="en-US" sz="1300" dirty="0"/>
          </a:p>
        </p:txBody>
      </p:sp>
      <p:sp>
        <p:nvSpPr>
          <p:cNvPr id="16" name="text-13"/>
          <p:cNvSpPr txBox="1"/>
          <p:nvPr/>
        </p:nvSpPr>
        <p:spPr>
          <a:xfrm>
            <a:off x="51206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Bugs love to hide at the edges!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an Edge Case?</a:t>
            </a:r>
            <a:endParaRPr lang="en-US" sz="3400" dirty="0"/>
          </a:p>
        </p:txBody>
      </p:sp>
      <p:sp>
        <p:nvSpPr>
          <p:cNvPr id="3" name="card-14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4" name="text-15"/>
          <p:cNvSpPr txBox="1"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 edge case is an input at the very limit (or just outside) of what a program expects.</a:t>
            </a:r>
            <a:endParaRPr lang="en-US" sz="1600" dirty="0"/>
          </a:p>
        </p:txBody>
      </p:sp>
      <p:sp>
        <p:nvSpPr>
          <p:cNvPr id="5" name="card-16"/>
          <p:cNvSpPr/>
          <p:nvPr/>
        </p:nvSpPr>
        <p:spPr>
          <a:xfrm>
            <a:off x="457200" y="2011680"/>
            <a:ext cx="1737360" cy="2468880"/>
          </a:xfrm>
          <a:prstGeom prst="roundRect">
            <a:avLst>
              <a:gd name="adj" fmla="val 7895"/>
            </a:avLst>
          </a:prstGeom>
          <a:solidFill>
            <a:schemeClr val="accent4">
              <a:alpha val="15000"/>
            </a:schemeClr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6" name="text-17"/>
          <p:cNvSpPr txBox="1"/>
          <p:nvPr/>
        </p:nvSpPr>
        <p:spPr>
          <a:xfrm>
            <a:off x="45720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LIFT</a:t>
            </a:r>
            <a:endParaRPr lang="en-US" sz="1300" dirty="0"/>
          </a:p>
        </p:txBody>
      </p:sp>
      <p:sp>
        <p:nvSpPr>
          <p:cNvPr id="7" name="circle-18"/>
          <p:cNvSpPr txBox="1"/>
          <p:nvPr/>
        </p:nvSpPr>
        <p:spPr>
          <a:xfrm>
            <a:off x="685800" y="251460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circle-19"/>
          <p:cNvSpPr txBox="1"/>
          <p:nvPr/>
        </p:nvSpPr>
        <p:spPr>
          <a:xfrm>
            <a:off x="1051560" y="251460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circle-20"/>
          <p:cNvSpPr txBox="1"/>
          <p:nvPr/>
        </p:nvSpPr>
        <p:spPr>
          <a:xfrm>
            <a:off x="1417320" y="251460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circle-21"/>
          <p:cNvSpPr txBox="1"/>
          <p:nvPr/>
        </p:nvSpPr>
        <p:spPr>
          <a:xfrm>
            <a:off x="1783080" y="251460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circle-22"/>
          <p:cNvSpPr txBox="1"/>
          <p:nvPr/>
        </p:nvSpPr>
        <p:spPr>
          <a:xfrm>
            <a:off x="685800" y="301752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circle-23"/>
          <p:cNvSpPr txBox="1"/>
          <p:nvPr/>
        </p:nvSpPr>
        <p:spPr>
          <a:xfrm>
            <a:off x="1051560" y="301752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circle-24"/>
          <p:cNvSpPr txBox="1"/>
          <p:nvPr/>
        </p:nvSpPr>
        <p:spPr>
          <a:xfrm>
            <a:off x="1417320" y="301752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4" name="circle-25"/>
          <p:cNvSpPr txBox="1"/>
          <p:nvPr/>
        </p:nvSpPr>
        <p:spPr>
          <a:xfrm>
            <a:off x="1783080" y="301752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-26"/>
          <p:cNvSpPr txBox="1"/>
          <p:nvPr/>
        </p:nvSpPr>
        <p:spPr>
          <a:xfrm>
            <a:off x="45720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Max 8 people</a:t>
            </a:r>
            <a:endParaRPr lang="en-US" sz="1300" dirty="0"/>
          </a:p>
        </p:txBody>
      </p:sp>
      <p:sp>
        <p:nvSpPr>
          <p:cNvPr id="16" name="chip-27"/>
          <p:cNvSpPr txBox="1"/>
          <p:nvPr/>
        </p:nvSpPr>
        <p:spPr>
          <a:xfrm>
            <a:off x="256032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17" name="chip-28"/>
          <p:cNvSpPr txBox="1"/>
          <p:nvPr/>
        </p:nvSpPr>
        <p:spPr>
          <a:xfrm>
            <a:off x="3584448" y="2103120"/>
            <a:ext cx="219456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to 7</a:t>
            </a:r>
            <a:endParaRPr lang="en-US" sz="1800" dirty="0"/>
          </a:p>
        </p:txBody>
      </p:sp>
      <p:sp>
        <p:nvSpPr>
          <p:cNvPr id="18" name="chip-29"/>
          <p:cNvSpPr txBox="1"/>
          <p:nvPr/>
        </p:nvSpPr>
        <p:spPr>
          <a:xfrm>
            <a:off x="5888736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</a:t>
            </a:r>
            <a:endParaRPr lang="en-US" sz="2000" dirty="0"/>
          </a:p>
        </p:txBody>
      </p:sp>
      <p:sp>
        <p:nvSpPr>
          <p:cNvPr id="19" name="chip-30"/>
          <p:cNvSpPr txBox="1"/>
          <p:nvPr/>
        </p:nvSpPr>
        <p:spPr>
          <a:xfrm>
            <a:off x="6912864" y="2103120"/>
            <a:ext cx="12801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9+</a:t>
            </a:r>
            <a:endParaRPr lang="en-US" sz="2000" dirty="0"/>
          </a:p>
        </p:txBody>
      </p:sp>
      <p:sp>
        <p:nvSpPr>
          <p:cNvPr id="20" name="text-31"/>
          <p:cNvSpPr txBox="1"/>
          <p:nvPr/>
        </p:nvSpPr>
        <p:spPr>
          <a:xfrm>
            <a:off x="246888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Empty lift</a:t>
            </a:r>
            <a:endParaRPr lang="en-US" sz="1200" dirty="0"/>
          </a:p>
        </p:txBody>
      </p:sp>
      <p:sp>
        <p:nvSpPr>
          <p:cNvPr id="21" name="text-32"/>
          <p:cNvSpPr txBox="1"/>
          <p:nvPr/>
        </p:nvSpPr>
        <p:spPr>
          <a:xfrm>
            <a:off x="3493008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Everyday rides</a:t>
            </a:r>
            <a:endParaRPr lang="en-US" sz="1200" dirty="0"/>
          </a:p>
        </p:txBody>
      </p:sp>
      <p:sp>
        <p:nvSpPr>
          <p:cNvPr id="22" name="text-33"/>
          <p:cNvSpPr txBox="1"/>
          <p:nvPr/>
        </p:nvSpPr>
        <p:spPr>
          <a:xfrm>
            <a:off x="5797296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Exactly full</a:t>
            </a:r>
            <a:endParaRPr lang="en-US" sz="1200" dirty="0"/>
          </a:p>
        </p:txBody>
      </p:sp>
      <p:sp>
        <p:nvSpPr>
          <p:cNvPr id="23" name="text-34"/>
          <p:cNvSpPr txBox="1"/>
          <p:nvPr/>
        </p:nvSpPr>
        <p:spPr>
          <a:xfrm>
            <a:off x="6821424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Overload!</a:t>
            </a:r>
            <a:endParaRPr lang="en-US" sz="1200" dirty="0"/>
          </a:p>
        </p:txBody>
      </p:sp>
      <p:sp>
        <p:nvSpPr>
          <p:cNvPr id="24" name="card-35"/>
          <p:cNvSpPr/>
          <p:nvPr/>
        </p:nvSpPr>
        <p:spPr>
          <a:xfrm>
            <a:off x="2560320" y="3520440"/>
            <a:ext cx="612648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5" name="text-36"/>
          <p:cNvSpPr txBox="1"/>
          <p:nvPr/>
        </p:nvSpPr>
        <p:spPr>
          <a:xfrm>
            <a:off x="2743200" y="35204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Edge cases live at the edges: the smallest, the biggest, the first, the last, or nothing at 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Normal vs Edge</a:t>
            </a:r>
            <a:endParaRPr lang="en-US" sz="3400" dirty="0"/>
          </a:p>
        </p:txBody>
      </p:sp>
      <p:sp>
        <p:nvSpPr>
          <p:cNvPr id="3" name="text-3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Rule: marks must be from 0 to 100</a:t>
            </a:r>
            <a:endParaRPr lang="en-US" sz="1600" dirty="0"/>
          </a:p>
        </p:txBody>
      </p:sp>
      <p:sp>
        <p:nvSpPr>
          <p:cNvPr id="4" name="chip-38"/>
          <p:cNvSpPr txBox="1"/>
          <p:nvPr/>
        </p:nvSpPr>
        <p:spPr>
          <a:xfrm>
            <a:off x="548640" y="20116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 low</a:t>
            </a:r>
            <a:endParaRPr lang="en-US" sz="1600" dirty="0"/>
          </a:p>
        </p:txBody>
      </p:sp>
      <p:sp>
        <p:nvSpPr>
          <p:cNvPr id="5" name="text-39"/>
          <p:cNvSpPr txBox="1"/>
          <p:nvPr/>
        </p:nvSpPr>
        <p:spPr>
          <a:xfrm>
            <a:off x="54864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-1, -50</a:t>
            </a:r>
            <a:endParaRPr lang="en-US" sz="1400" dirty="0"/>
          </a:p>
        </p:txBody>
      </p:sp>
      <p:sp>
        <p:nvSpPr>
          <p:cNvPr id="6" name="chip-40"/>
          <p:cNvSpPr txBox="1"/>
          <p:nvPr/>
        </p:nvSpPr>
        <p:spPr>
          <a:xfrm>
            <a:off x="210312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</a:t>
            </a:r>
            <a:endParaRPr lang="en-US" sz="1600" dirty="0"/>
          </a:p>
        </p:txBody>
      </p:sp>
      <p:sp>
        <p:nvSpPr>
          <p:cNvPr id="7" name="text-41"/>
          <p:cNvSpPr txBox="1"/>
          <p:nvPr/>
        </p:nvSpPr>
        <p:spPr>
          <a:xfrm>
            <a:off x="21031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</a:t>
            </a:r>
            <a:endParaRPr lang="en-US" sz="1400" dirty="0"/>
          </a:p>
        </p:txBody>
      </p:sp>
      <p:sp>
        <p:nvSpPr>
          <p:cNvPr id="8" name="chip-42"/>
          <p:cNvSpPr txBox="1"/>
          <p:nvPr/>
        </p:nvSpPr>
        <p:spPr>
          <a:xfrm>
            <a:off x="3291840" y="201168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 zone</a:t>
            </a:r>
            <a:endParaRPr lang="en-US" sz="1600" dirty="0"/>
          </a:p>
        </p:txBody>
      </p:sp>
      <p:sp>
        <p:nvSpPr>
          <p:cNvPr id="9" name="text-43"/>
          <p:cNvSpPr txBox="1"/>
          <p:nvPr/>
        </p:nvSpPr>
        <p:spPr>
          <a:xfrm>
            <a:off x="32918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to 98</a:t>
            </a:r>
            <a:endParaRPr lang="en-US" sz="1400" dirty="0"/>
          </a:p>
        </p:txBody>
      </p:sp>
      <p:sp>
        <p:nvSpPr>
          <p:cNvPr id="10" name="chip-44"/>
          <p:cNvSpPr txBox="1"/>
          <p:nvPr/>
        </p:nvSpPr>
        <p:spPr>
          <a:xfrm>
            <a:off x="612648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</a:t>
            </a:r>
            <a:endParaRPr lang="en-US" sz="1600" dirty="0"/>
          </a:p>
        </p:txBody>
      </p:sp>
      <p:sp>
        <p:nvSpPr>
          <p:cNvPr id="11" name="text-45"/>
          <p:cNvSpPr txBox="1"/>
          <p:nvPr/>
        </p:nvSpPr>
        <p:spPr>
          <a:xfrm>
            <a:off x="612648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99, 100</a:t>
            </a:r>
            <a:endParaRPr lang="en-US" sz="1400" dirty="0"/>
          </a:p>
        </p:txBody>
      </p:sp>
      <p:sp>
        <p:nvSpPr>
          <p:cNvPr id="12" name="chip-46"/>
          <p:cNvSpPr txBox="1"/>
          <p:nvPr/>
        </p:nvSpPr>
        <p:spPr>
          <a:xfrm>
            <a:off x="7315200" y="20116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 high</a:t>
            </a:r>
            <a:endParaRPr lang="en-US" sz="1600" dirty="0"/>
          </a:p>
        </p:txBody>
      </p:sp>
      <p:sp>
        <p:nvSpPr>
          <p:cNvPr id="13" name="text-47"/>
          <p:cNvSpPr txBox="1"/>
          <p:nvPr/>
        </p:nvSpPr>
        <p:spPr>
          <a:xfrm>
            <a:off x="731520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101, 200</a:t>
            </a:r>
            <a:endParaRPr lang="en-US" sz="1400" dirty="0"/>
          </a:p>
        </p:txBody>
      </p:sp>
      <p:sp>
        <p:nvSpPr>
          <p:cNvPr id="14" name="line-48"/>
          <p:cNvSpPr/>
          <p:nvPr/>
        </p:nvSpPr>
        <p:spPr>
          <a:xfrm>
            <a:off x="4023360" y="1691640"/>
            <a:ext cx="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text-49"/>
          <p:cNvSpPr txBox="1"/>
          <p:nvPr/>
        </p:nvSpPr>
        <p:spPr>
          <a:xfrm>
            <a:off x="27432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Most people test only here</a:t>
            </a:r>
            <a:endParaRPr lang="en-US" sz="1300" dirty="0"/>
          </a:p>
        </p:txBody>
      </p:sp>
      <p:sp>
        <p:nvSpPr>
          <p:cNvPr id="16" name="line-50"/>
          <p:cNvSpPr/>
          <p:nvPr/>
        </p:nvSpPr>
        <p:spPr>
          <a:xfrm>
            <a:off x="2651760" y="1691640"/>
            <a:ext cx="0" cy="27432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text-51"/>
          <p:cNvSpPr txBox="1"/>
          <p:nvPr/>
        </p:nvSpPr>
        <p:spPr>
          <a:xfrm>
            <a:off x="173736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Bugs hide here!</a:t>
            </a:r>
            <a:endParaRPr lang="en-US" sz="1300" dirty="0"/>
          </a:p>
        </p:txBody>
      </p:sp>
      <p:sp>
        <p:nvSpPr>
          <p:cNvPr id="18" name="chip-52"/>
          <p:cNvSpPr txBox="1"/>
          <p:nvPr/>
        </p:nvSpPr>
        <p:spPr>
          <a:xfrm>
            <a:off x="548640" y="356616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Normal: everyday values</a:t>
            </a:r>
            <a:endParaRPr lang="en-US" sz="1400" dirty="0"/>
          </a:p>
        </p:txBody>
      </p:sp>
      <p:sp>
        <p:nvSpPr>
          <p:cNvPr id="19" name="chip-53"/>
          <p:cNvSpPr txBox="1"/>
          <p:nvPr/>
        </p:nvSpPr>
        <p:spPr>
          <a:xfrm>
            <a:off x="3337560" y="356616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Edge: right on the limit</a:t>
            </a:r>
            <a:endParaRPr lang="en-US" sz="1400" dirty="0"/>
          </a:p>
        </p:txBody>
      </p:sp>
      <p:sp>
        <p:nvSpPr>
          <p:cNvPr id="20" name="chip-54"/>
          <p:cNvSpPr txBox="1"/>
          <p:nvPr/>
        </p:nvSpPr>
        <p:spPr>
          <a:xfrm>
            <a:off x="6126480" y="356616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Invalid: outside the rule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Should We Care?</a:t>
            </a:r>
            <a:endParaRPr lang="en-US" sz="3400" dirty="0"/>
          </a:p>
        </p:txBody>
      </p:sp>
      <p:sp>
        <p:nvSpPr>
          <p:cNvPr id="3" name="text-55"/>
          <p:cNvSpPr txBox="1"/>
          <p:nvPr/>
        </p:nvSpPr>
        <p:spPr>
          <a:xfrm>
            <a:off x="4572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Edge input</a:t>
            </a:r>
            <a:endParaRPr lang="en-US" sz="1200" dirty="0"/>
          </a:p>
        </p:txBody>
      </p:sp>
      <p:sp>
        <p:nvSpPr>
          <p:cNvPr id="4" name="text-56"/>
          <p:cNvSpPr txBox="1"/>
          <p:nvPr/>
        </p:nvSpPr>
        <p:spPr>
          <a:xfrm>
            <a:off x="393192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Program</a:t>
            </a:r>
            <a:endParaRPr lang="en-US" sz="1200" dirty="0"/>
          </a:p>
        </p:txBody>
      </p:sp>
      <p:sp>
        <p:nvSpPr>
          <p:cNvPr id="5" name="text-57"/>
          <p:cNvSpPr txBox="1"/>
          <p:nvPr/>
        </p:nvSpPr>
        <p:spPr>
          <a:xfrm>
            <a:off x="566928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Oops!</a:t>
            </a:r>
            <a:endParaRPr lang="en-US" sz="1200" dirty="0"/>
          </a:p>
        </p:txBody>
      </p:sp>
      <p:sp>
        <p:nvSpPr>
          <p:cNvPr id="6" name="chip-58"/>
          <p:cNvSpPr txBox="1"/>
          <p:nvPr/>
        </p:nvSpPr>
        <p:spPr>
          <a:xfrm>
            <a:off x="457200" y="141732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Shopping app: quantity = 0</a:t>
            </a:r>
            <a:endParaRPr lang="en-US" sz="1400" dirty="0"/>
          </a:p>
        </p:txBody>
      </p:sp>
      <p:sp>
        <p:nvSpPr>
          <p:cNvPr id="7" name="line-59"/>
          <p:cNvSpPr/>
          <p:nvPr/>
        </p:nvSpPr>
        <p:spPr>
          <a:xfrm>
            <a:off x="3520440" y="178308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hip-60"/>
          <p:cNvSpPr txBox="1"/>
          <p:nvPr/>
        </p:nvSpPr>
        <p:spPr>
          <a:xfrm>
            <a:off x="3931920" y="141732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Program</a:t>
            </a:r>
            <a:endParaRPr lang="en-US" sz="1400" dirty="0"/>
          </a:p>
        </p:txBody>
      </p:sp>
      <p:sp>
        <p:nvSpPr>
          <p:cNvPr id="9" name="line-61"/>
          <p:cNvSpPr/>
          <p:nvPr/>
        </p:nvSpPr>
        <p:spPr>
          <a:xfrm>
            <a:off x="5257800" y="178308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chip-62"/>
          <p:cNvSpPr txBox="1"/>
          <p:nvPr/>
        </p:nvSpPr>
        <p:spPr>
          <a:xfrm>
            <a:off x="5669280" y="141732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 of 0 items is placed</a:t>
            </a:r>
            <a:endParaRPr lang="en-US" sz="1400" dirty="0"/>
          </a:p>
        </p:txBody>
      </p:sp>
      <p:sp>
        <p:nvSpPr>
          <p:cNvPr id="11" name="chip-63"/>
          <p:cNvSpPr txBox="1"/>
          <p:nvPr/>
        </p:nvSpPr>
        <p:spPr>
          <a:xfrm>
            <a:off x="457200" y="237744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Game: score goes past the maximum</a:t>
            </a:r>
            <a:endParaRPr lang="en-US" sz="1400" dirty="0"/>
          </a:p>
        </p:txBody>
      </p:sp>
      <p:sp>
        <p:nvSpPr>
          <p:cNvPr id="12" name="line-64"/>
          <p:cNvSpPr/>
          <p:nvPr/>
        </p:nvSpPr>
        <p:spPr>
          <a:xfrm>
            <a:off x="3520440" y="274320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chip-65"/>
          <p:cNvSpPr txBox="1"/>
          <p:nvPr/>
        </p:nvSpPr>
        <p:spPr>
          <a:xfrm>
            <a:off x="3931920" y="237744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Program</a:t>
            </a:r>
            <a:endParaRPr lang="en-US" sz="1400" dirty="0"/>
          </a:p>
        </p:txBody>
      </p:sp>
      <p:sp>
        <p:nvSpPr>
          <p:cNvPr id="14" name="line-66"/>
          <p:cNvSpPr/>
          <p:nvPr/>
        </p:nvSpPr>
        <p:spPr>
          <a:xfrm>
            <a:off x="5257800" y="274320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chip-67"/>
          <p:cNvSpPr txBox="1"/>
          <p:nvPr/>
        </p:nvSpPr>
        <p:spPr>
          <a:xfrm>
            <a:off x="5669280" y="237744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Score turns negative</a:t>
            </a:r>
            <a:endParaRPr lang="en-US" sz="1400" dirty="0"/>
          </a:p>
        </p:txBody>
      </p:sp>
      <p:sp>
        <p:nvSpPr>
          <p:cNvPr id="16" name="chip-68"/>
          <p:cNvSpPr txBox="1"/>
          <p:nvPr/>
        </p:nvSpPr>
        <p:spPr>
          <a:xfrm>
            <a:off x="457200" y="333756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 form: age = -5</a:t>
            </a:r>
            <a:endParaRPr lang="en-US" sz="1400" dirty="0"/>
          </a:p>
        </p:txBody>
      </p:sp>
      <p:sp>
        <p:nvSpPr>
          <p:cNvPr id="17" name="line-69"/>
          <p:cNvSpPr/>
          <p:nvPr/>
        </p:nvSpPr>
        <p:spPr>
          <a:xfrm>
            <a:off x="3520440" y="370332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hip-70"/>
          <p:cNvSpPr txBox="1"/>
          <p:nvPr/>
        </p:nvSpPr>
        <p:spPr>
          <a:xfrm>
            <a:off x="3931920" y="3337560"/>
            <a:ext cx="1280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Program</a:t>
            </a:r>
            <a:endParaRPr lang="en-US" sz="1400" dirty="0"/>
          </a:p>
        </p:txBody>
      </p:sp>
      <p:sp>
        <p:nvSpPr>
          <p:cNvPr id="19" name="line-71"/>
          <p:cNvSpPr/>
          <p:nvPr/>
        </p:nvSpPr>
        <p:spPr>
          <a:xfrm>
            <a:off x="5257800" y="370332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hip-72"/>
          <p:cNvSpPr txBox="1"/>
          <p:nvPr/>
        </p:nvSpPr>
        <p:spPr>
          <a:xfrm>
            <a:off x="5669280" y="3337560"/>
            <a:ext cx="30175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Form accepts a negative age</a:t>
            </a:r>
            <a:endParaRPr lang="en-US" sz="1400" dirty="0"/>
          </a:p>
        </p:txBody>
      </p:sp>
      <p:sp>
        <p:nvSpPr>
          <p:cNvPr id="21" name="card-73"/>
          <p:cNvSpPr/>
          <p:nvPr/>
        </p:nvSpPr>
        <p:spPr>
          <a:xfrm>
            <a:off x="457200" y="4297680"/>
            <a:ext cx="8229600" cy="320040"/>
          </a:xfrm>
          <a:prstGeom prst="roundRect">
            <a:avLst>
              <a:gd name="adj" fmla="val 42857"/>
            </a:avLst>
          </a:prstGeom>
          <a:solidFill>
            <a:schemeClr val="bg2"/>
          </a:solidFill>
          <a:ln/>
        </p:spPr>
      </p:sp>
      <p:sp>
        <p:nvSpPr>
          <p:cNvPr id="22" name="text-74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missed edge case can crash a whole app!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 Below, On, Above</a:t>
            </a:r>
            <a:endParaRPr lang="en-US" sz="3400" dirty="0"/>
          </a:p>
        </p:txBody>
      </p:sp>
      <p:sp>
        <p:nvSpPr>
          <p:cNvPr id="3" name="text-7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Rule: marks are valid from 0 to 100</a:t>
            </a:r>
            <a:endParaRPr lang="en-US" sz="1600" dirty="0"/>
          </a:p>
        </p:txBody>
      </p:sp>
      <p:sp>
        <p:nvSpPr>
          <p:cNvPr id="4" name="line-76"/>
          <p:cNvSpPr/>
          <p:nvPr/>
        </p:nvSpPr>
        <p:spPr>
          <a:xfrm>
            <a:off x="640080" y="2743200"/>
            <a:ext cx="786384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5" name="circle-77"/>
          <p:cNvSpPr txBox="1"/>
          <p:nvPr/>
        </p:nvSpPr>
        <p:spPr>
          <a:xfrm>
            <a:off x="594360" y="2423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-1</a:t>
            </a:r>
            <a:endParaRPr lang="en-US" sz="1500" dirty="0"/>
          </a:p>
        </p:txBody>
      </p:sp>
      <p:sp>
        <p:nvSpPr>
          <p:cNvPr id="6" name="text-78"/>
          <p:cNvSpPr txBox="1"/>
          <p:nvPr/>
        </p:nvSpPr>
        <p:spPr>
          <a:xfrm>
            <a:off x="34747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just below</a:t>
            </a:r>
            <a:endParaRPr lang="en-US" sz="1200" dirty="0"/>
          </a:p>
        </p:txBody>
      </p:sp>
      <p:sp>
        <p:nvSpPr>
          <p:cNvPr id="7" name="chip-79"/>
          <p:cNvSpPr txBox="1"/>
          <p:nvPr/>
        </p:nvSpPr>
        <p:spPr>
          <a:xfrm>
            <a:off x="45720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reject</a:t>
            </a:r>
            <a:endParaRPr lang="en-US" sz="1200" dirty="0"/>
          </a:p>
        </p:txBody>
      </p:sp>
      <p:sp>
        <p:nvSpPr>
          <p:cNvPr id="8" name="circle-80"/>
          <p:cNvSpPr txBox="1"/>
          <p:nvPr/>
        </p:nvSpPr>
        <p:spPr>
          <a:xfrm>
            <a:off x="178308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</a:t>
            </a:r>
            <a:endParaRPr lang="en-US" sz="1500" dirty="0"/>
          </a:p>
        </p:txBody>
      </p:sp>
      <p:sp>
        <p:nvSpPr>
          <p:cNvPr id="9" name="text-81"/>
          <p:cNvSpPr txBox="1"/>
          <p:nvPr/>
        </p:nvSpPr>
        <p:spPr>
          <a:xfrm>
            <a:off x="153619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 the limit</a:t>
            </a:r>
            <a:endParaRPr lang="en-US" sz="1200" dirty="0"/>
          </a:p>
        </p:txBody>
      </p:sp>
      <p:sp>
        <p:nvSpPr>
          <p:cNvPr id="10" name="chip-82"/>
          <p:cNvSpPr txBox="1"/>
          <p:nvPr/>
        </p:nvSpPr>
        <p:spPr>
          <a:xfrm>
            <a:off x="164592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</a:t>
            </a:r>
            <a:endParaRPr lang="en-US" sz="1200" dirty="0"/>
          </a:p>
        </p:txBody>
      </p:sp>
      <p:sp>
        <p:nvSpPr>
          <p:cNvPr id="11" name="circle-83"/>
          <p:cNvSpPr txBox="1"/>
          <p:nvPr/>
        </p:nvSpPr>
        <p:spPr>
          <a:xfrm>
            <a:off x="297180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-84"/>
          <p:cNvSpPr txBox="1"/>
          <p:nvPr/>
        </p:nvSpPr>
        <p:spPr>
          <a:xfrm>
            <a:off x="272491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just inside</a:t>
            </a:r>
            <a:endParaRPr lang="en-US" sz="1200" dirty="0"/>
          </a:p>
        </p:txBody>
      </p:sp>
      <p:sp>
        <p:nvSpPr>
          <p:cNvPr id="13" name="chip-85"/>
          <p:cNvSpPr txBox="1"/>
          <p:nvPr/>
        </p:nvSpPr>
        <p:spPr>
          <a:xfrm>
            <a:off x="283464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</a:t>
            </a:r>
            <a:endParaRPr lang="en-US" sz="1200" dirty="0"/>
          </a:p>
        </p:txBody>
      </p:sp>
      <p:sp>
        <p:nvSpPr>
          <p:cNvPr id="14" name="circle-86"/>
          <p:cNvSpPr txBox="1"/>
          <p:nvPr/>
        </p:nvSpPr>
        <p:spPr>
          <a:xfrm>
            <a:off x="4160520" y="2423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</a:t>
            </a:r>
            <a:endParaRPr lang="en-US" sz="1500" dirty="0"/>
          </a:p>
        </p:txBody>
      </p:sp>
      <p:sp>
        <p:nvSpPr>
          <p:cNvPr id="15" name="text-87"/>
          <p:cNvSpPr txBox="1"/>
          <p:nvPr/>
        </p:nvSpPr>
        <p:spPr>
          <a:xfrm>
            <a:off x="391363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middle</a:t>
            </a:r>
            <a:endParaRPr lang="en-US" sz="1200" dirty="0"/>
          </a:p>
        </p:txBody>
      </p:sp>
      <p:sp>
        <p:nvSpPr>
          <p:cNvPr id="16" name="chip-88"/>
          <p:cNvSpPr txBox="1"/>
          <p:nvPr/>
        </p:nvSpPr>
        <p:spPr>
          <a:xfrm>
            <a:off x="402336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</a:t>
            </a:r>
            <a:endParaRPr lang="en-US" sz="1200" dirty="0"/>
          </a:p>
        </p:txBody>
      </p:sp>
      <p:sp>
        <p:nvSpPr>
          <p:cNvPr id="17" name="circle-89"/>
          <p:cNvSpPr txBox="1"/>
          <p:nvPr/>
        </p:nvSpPr>
        <p:spPr>
          <a:xfrm>
            <a:off x="534924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99</a:t>
            </a:r>
            <a:endParaRPr lang="en-US" sz="1500" dirty="0"/>
          </a:p>
        </p:txBody>
      </p:sp>
      <p:sp>
        <p:nvSpPr>
          <p:cNvPr id="18" name="text-90"/>
          <p:cNvSpPr txBox="1"/>
          <p:nvPr/>
        </p:nvSpPr>
        <p:spPr>
          <a:xfrm>
            <a:off x="510235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just inside</a:t>
            </a:r>
            <a:endParaRPr lang="en-US" sz="1200" dirty="0"/>
          </a:p>
        </p:txBody>
      </p:sp>
      <p:sp>
        <p:nvSpPr>
          <p:cNvPr id="19" name="chip-91"/>
          <p:cNvSpPr txBox="1"/>
          <p:nvPr/>
        </p:nvSpPr>
        <p:spPr>
          <a:xfrm>
            <a:off x="521208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</a:t>
            </a:r>
            <a:endParaRPr lang="en-US" sz="1200" dirty="0"/>
          </a:p>
        </p:txBody>
      </p:sp>
      <p:sp>
        <p:nvSpPr>
          <p:cNvPr id="20" name="circle-92"/>
          <p:cNvSpPr txBox="1"/>
          <p:nvPr/>
        </p:nvSpPr>
        <p:spPr>
          <a:xfrm>
            <a:off x="653796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</a:t>
            </a:r>
            <a:endParaRPr lang="en-US" sz="1500" dirty="0"/>
          </a:p>
        </p:txBody>
      </p:sp>
      <p:sp>
        <p:nvSpPr>
          <p:cNvPr id="21" name="text-93"/>
          <p:cNvSpPr txBox="1"/>
          <p:nvPr/>
        </p:nvSpPr>
        <p:spPr>
          <a:xfrm>
            <a:off x="629107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 the limit</a:t>
            </a:r>
            <a:endParaRPr lang="en-US" sz="1200" dirty="0"/>
          </a:p>
        </p:txBody>
      </p:sp>
      <p:sp>
        <p:nvSpPr>
          <p:cNvPr id="22" name="chip-94"/>
          <p:cNvSpPr txBox="1"/>
          <p:nvPr/>
        </p:nvSpPr>
        <p:spPr>
          <a:xfrm>
            <a:off x="640080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</a:t>
            </a:r>
            <a:endParaRPr lang="en-US" sz="1200" dirty="0"/>
          </a:p>
        </p:txBody>
      </p:sp>
      <p:sp>
        <p:nvSpPr>
          <p:cNvPr id="23" name="circle-95"/>
          <p:cNvSpPr txBox="1"/>
          <p:nvPr/>
        </p:nvSpPr>
        <p:spPr>
          <a:xfrm>
            <a:off x="7726680" y="2423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101</a:t>
            </a:r>
            <a:endParaRPr lang="en-US" sz="1500" dirty="0"/>
          </a:p>
        </p:txBody>
      </p:sp>
      <p:sp>
        <p:nvSpPr>
          <p:cNvPr id="24" name="text-96"/>
          <p:cNvSpPr txBox="1"/>
          <p:nvPr/>
        </p:nvSpPr>
        <p:spPr>
          <a:xfrm>
            <a:off x="7479792" y="17830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just above</a:t>
            </a:r>
            <a:endParaRPr lang="en-US" sz="1200" dirty="0"/>
          </a:p>
        </p:txBody>
      </p:sp>
      <p:sp>
        <p:nvSpPr>
          <p:cNvPr id="25" name="chip-97"/>
          <p:cNvSpPr txBox="1"/>
          <p:nvPr/>
        </p:nvSpPr>
        <p:spPr>
          <a:xfrm>
            <a:off x="7589520" y="3291840"/>
            <a:ext cx="914400" cy="347472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reject</a:t>
            </a:r>
            <a:endParaRPr lang="en-US" sz="1200" dirty="0"/>
          </a:p>
        </p:txBody>
      </p:sp>
      <p:sp>
        <p:nvSpPr>
          <p:cNvPr id="26" name="card-98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27" name="text-99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 every limit, test 3 spots: just below, exactly on, just above.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5 Sneaky Inputs</a:t>
            </a:r>
            <a:endParaRPr lang="en-US" sz="3400" dirty="0"/>
          </a:p>
        </p:txBody>
      </p:sp>
      <p:sp>
        <p:nvSpPr>
          <p:cNvPr id="3" name="card-100"/>
          <p:cNvSpPr/>
          <p:nvPr/>
        </p:nvSpPr>
        <p:spPr>
          <a:xfrm>
            <a:off x="457200" y="1188720"/>
            <a:ext cx="1554480" cy="283464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4" name="chip-101"/>
          <p:cNvSpPr txBox="1"/>
          <p:nvPr/>
        </p:nvSpPr>
        <p:spPr>
          <a:xfrm>
            <a:off x="594360" y="1371600"/>
            <a:ext cx="12801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2600" dirty="0"/>
          </a:p>
        </p:txBody>
      </p:sp>
      <p:sp>
        <p:nvSpPr>
          <p:cNvPr id="5" name="text-102"/>
          <p:cNvSpPr txBox="1"/>
          <p:nvPr/>
        </p:nvSpPr>
        <p:spPr>
          <a:xfrm>
            <a:off x="54864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Empty</a:t>
            </a:r>
            <a:endParaRPr lang="en-US" sz="1600" dirty="0"/>
          </a:p>
        </p:txBody>
      </p:sp>
      <p:sp>
        <p:nvSpPr>
          <p:cNvPr id="6" name="text-103"/>
          <p:cNvSpPr txBox="1"/>
          <p:nvPr/>
        </p:nvSpPr>
        <p:spPr>
          <a:xfrm>
            <a:off x="59436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nothing typed</a:t>
            </a:r>
            <a:endParaRPr lang="en-US" sz="1300" dirty="0"/>
          </a:p>
        </p:txBody>
      </p:sp>
      <p:sp>
        <p:nvSpPr>
          <p:cNvPr id="7" name="card-104"/>
          <p:cNvSpPr/>
          <p:nvPr/>
        </p:nvSpPr>
        <p:spPr>
          <a:xfrm>
            <a:off x="2125980" y="1188720"/>
            <a:ext cx="1554480" cy="283464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8" name="chip-105"/>
          <p:cNvSpPr txBox="1"/>
          <p:nvPr/>
        </p:nvSpPr>
        <p:spPr>
          <a:xfrm>
            <a:off x="2263140" y="1371600"/>
            <a:ext cx="128016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-106"/>
          <p:cNvSpPr txBox="1"/>
          <p:nvPr/>
        </p:nvSpPr>
        <p:spPr>
          <a:xfrm>
            <a:off x="22174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Zero</a:t>
            </a:r>
            <a:endParaRPr lang="en-US" sz="1600" dirty="0"/>
          </a:p>
        </p:txBody>
      </p:sp>
      <p:sp>
        <p:nvSpPr>
          <p:cNvPr id="10" name="text-107"/>
          <p:cNvSpPr txBox="1"/>
          <p:nvPr/>
        </p:nvSpPr>
        <p:spPr>
          <a:xfrm>
            <a:off x="226314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can we divide by it?</a:t>
            </a:r>
            <a:endParaRPr lang="en-US" sz="1300" dirty="0"/>
          </a:p>
        </p:txBody>
      </p:sp>
      <p:sp>
        <p:nvSpPr>
          <p:cNvPr id="11" name="card-108"/>
          <p:cNvSpPr/>
          <p:nvPr/>
        </p:nvSpPr>
        <p:spPr>
          <a:xfrm>
            <a:off x="3794760" y="1188720"/>
            <a:ext cx="1554480" cy="283464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2" name="chip-109"/>
          <p:cNvSpPr txBox="1"/>
          <p:nvPr/>
        </p:nvSpPr>
        <p:spPr>
          <a:xfrm>
            <a:off x="3931920" y="1371600"/>
            <a:ext cx="128016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2600" dirty="0"/>
          </a:p>
        </p:txBody>
      </p:sp>
      <p:sp>
        <p:nvSpPr>
          <p:cNvPr id="13" name="text-110"/>
          <p:cNvSpPr txBox="1"/>
          <p:nvPr/>
        </p:nvSpPr>
        <p:spPr>
          <a:xfrm>
            <a:off x="388620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Negative</a:t>
            </a:r>
            <a:endParaRPr lang="en-US" sz="1600" dirty="0"/>
          </a:p>
        </p:txBody>
      </p:sp>
      <p:sp>
        <p:nvSpPr>
          <p:cNvPr id="14" name="text-111"/>
          <p:cNvSpPr txBox="1"/>
          <p:nvPr/>
        </p:nvSpPr>
        <p:spPr>
          <a:xfrm>
            <a:off x="393192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less than allowed</a:t>
            </a:r>
            <a:endParaRPr lang="en-US" sz="1300" dirty="0"/>
          </a:p>
        </p:txBody>
      </p:sp>
      <p:sp>
        <p:nvSpPr>
          <p:cNvPr id="15" name="card-112"/>
          <p:cNvSpPr/>
          <p:nvPr/>
        </p:nvSpPr>
        <p:spPr>
          <a:xfrm>
            <a:off x="5463540" y="1188720"/>
            <a:ext cx="1554480" cy="283464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6" name="chip-113"/>
          <p:cNvSpPr txBox="1"/>
          <p:nvPr/>
        </p:nvSpPr>
        <p:spPr>
          <a:xfrm>
            <a:off x="5600700" y="1371600"/>
            <a:ext cx="128016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2600" dirty="0"/>
          </a:p>
        </p:txBody>
      </p:sp>
      <p:sp>
        <p:nvSpPr>
          <p:cNvPr id="17" name="text-114"/>
          <p:cNvSpPr txBox="1"/>
          <p:nvPr/>
        </p:nvSpPr>
        <p:spPr>
          <a:xfrm>
            <a:off x="55549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Biggest</a:t>
            </a:r>
            <a:endParaRPr lang="en-US" sz="1600" dirty="0"/>
          </a:p>
        </p:txBody>
      </p:sp>
      <p:sp>
        <p:nvSpPr>
          <p:cNvPr id="18" name="text-115"/>
          <p:cNvSpPr txBox="1"/>
          <p:nvPr/>
        </p:nvSpPr>
        <p:spPr>
          <a:xfrm>
            <a:off x="560070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more breaks it?</a:t>
            </a:r>
            <a:endParaRPr lang="en-US" sz="1300" dirty="0"/>
          </a:p>
        </p:txBody>
      </p:sp>
      <p:sp>
        <p:nvSpPr>
          <p:cNvPr id="19" name="card-116"/>
          <p:cNvSpPr/>
          <p:nvPr/>
        </p:nvSpPr>
        <p:spPr>
          <a:xfrm>
            <a:off x="7132320" y="1188720"/>
            <a:ext cx="1554480" cy="283464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20" name="chip-117"/>
          <p:cNvSpPr txBox="1"/>
          <p:nvPr/>
        </p:nvSpPr>
        <p:spPr>
          <a:xfrm>
            <a:off x="7269480" y="1371600"/>
            <a:ext cx="128016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2600" dirty="0"/>
          </a:p>
        </p:txBody>
      </p:sp>
      <p:sp>
        <p:nvSpPr>
          <p:cNvPr id="21" name="text-118"/>
          <p:cNvSpPr txBox="1"/>
          <p:nvPr/>
        </p:nvSpPr>
        <p:spPr>
          <a:xfrm>
            <a:off x="72237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Wrong type</a:t>
            </a:r>
            <a:endParaRPr lang="en-US" sz="1600" dirty="0"/>
          </a:p>
        </p:txBody>
      </p:sp>
      <p:sp>
        <p:nvSpPr>
          <p:cNvPr id="22" name="text-119"/>
          <p:cNvSpPr txBox="1"/>
          <p:nvPr/>
        </p:nvSpPr>
        <p:spPr>
          <a:xfrm>
            <a:off x="726948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text, not a number</a:t>
            </a:r>
            <a:endParaRPr lang="en-US" sz="1300" dirty="0"/>
          </a:p>
        </p:txBody>
      </p:sp>
      <p:sp>
        <p:nvSpPr>
          <p:cNvPr id="23" name="card-12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30000"/>
            </a:avLst>
          </a:prstGeom>
          <a:solidFill>
            <a:schemeClr val="bg2"/>
          </a:solidFill>
          <a:ln/>
        </p:spPr>
      </p:sp>
      <p:sp>
        <p:nvSpPr>
          <p:cNvPr id="24" name="text-1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Ask: what if it is empty, zero, negative, huge or the wrong type?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 Edge Case Bug</a:t>
            </a:r>
            <a:endParaRPr lang="en-US" sz="3400" dirty="0"/>
          </a:p>
        </p:txBody>
      </p:sp>
      <p:sp>
        <p:nvSpPr>
          <p:cNvPr id="3" name="card-122"/>
          <p:cNvSpPr/>
          <p:nvPr/>
        </p:nvSpPr>
        <p:spPr>
          <a:xfrm>
            <a:off x="457200" y="1188720"/>
            <a:ext cx="4937760" cy="182880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4" name="code-123"/>
          <p:cNvSpPr txBox="1"/>
          <p:nvPr/>
        </p:nvSpPr>
        <p:spPr>
          <a:xfrm>
            <a:off x="640080" y="1325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marks = {};   // empty!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m : marks) sum += m;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avg = sum / marks.length;</a:t>
            </a:r>
            <a:endParaRPr lang="en-US" sz="1400" dirty="0"/>
          </a:p>
        </p:txBody>
      </p:sp>
      <p:sp>
        <p:nvSpPr>
          <p:cNvPr id="5" name="card-124"/>
          <p:cNvSpPr/>
          <p:nvPr/>
        </p:nvSpPr>
        <p:spPr>
          <a:xfrm>
            <a:off x="457200" y="3246120"/>
            <a:ext cx="4937760" cy="1234440"/>
          </a:xfrm>
          <a:prstGeom prst="roundRect">
            <a:avLst>
              <a:gd name="adj" fmla="val 11111"/>
            </a:avLst>
          </a:prstGeom>
          <a:solidFill>
            <a:schemeClr val="accent3">
              <a:alpha val="25000"/>
            </a:schemeClr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6" name="text-125"/>
          <p:cNvSpPr txBox="1"/>
          <p:nvPr/>
        </p:nvSpPr>
        <p:spPr>
          <a:xfrm>
            <a:off x="6400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fix</a:t>
            </a:r>
            <a:endParaRPr lang="en-US" sz="1400" dirty="0"/>
          </a:p>
        </p:txBody>
      </p:sp>
      <p:sp>
        <p:nvSpPr>
          <p:cNvPr id="7" name="chip-126"/>
          <p:cNvSpPr txBox="1"/>
          <p:nvPr/>
        </p:nvSpPr>
        <p:spPr>
          <a:xfrm>
            <a:off x="640080" y="3703320"/>
            <a:ext cx="457200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(marks.length == 0) return 0;</a:t>
            </a:r>
            <a:endParaRPr lang="en-US" sz="1400" dirty="0"/>
          </a:p>
        </p:txBody>
      </p:sp>
      <p:sp>
        <p:nvSpPr>
          <p:cNvPr id="8" name="chip-127"/>
          <p:cNvSpPr txBox="1"/>
          <p:nvPr/>
        </p:nvSpPr>
        <p:spPr>
          <a:xfrm>
            <a:off x="5943600" y="118872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Empty list  []</a:t>
            </a:r>
            <a:endParaRPr lang="en-US" sz="1600" dirty="0"/>
          </a:p>
        </p:txBody>
      </p:sp>
      <p:sp>
        <p:nvSpPr>
          <p:cNvPr id="9" name="line-128"/>
          <p:cNvSpPr/>
          <p:nvPr/>
        </p:nvSpPr>
        <p:spPr>
          <a:xfrm>
            <a:off x="7315200" y="1755648"/>
            <a:ext cx="0" cy="28346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chip-129"/>
          <p:cNvSpPr txBox="1"/>
          <p:nvPr/>
        </p:nvSpPr>
        <p:spPr>
          <a:xfrm>
            <a:off x="5943600" y="205740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sum = 0</a:t>
            </a:r>
            <a:endParaRPr lang="en-US" sz="1600" dirty="0"/>
          </a:p>
        </p:txBody>
      </p:sp>
      <p:sp>
        <p:nvSpPr>
          <p:cNvPr id="11" name="line-130"/>
          <p:cNvSpPr/>
          <p:nvPr/>
        </p:nvSpPr>
        <p:spPr>
          <a:xfrm>
            <a:off x="7315200" y="2624328"/>
            <a:ext cx="0" cy="28346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hip-131"/>
          <p:cNvSpPr txBox="1"/>
          <p:nvPr/>
        </p:nvSpPr>
        <p:spPr>
          <a:xfrm>
            <a:off x="5943600" y="292608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 / 0 ?</a:t>
            </a:r>
            <a:endParaRPr lang="en-US" sz="1600" dirty="0"/>
          </a:p>
        </p:txBody>
      </p:sp>
      <p:sp>
        <p:nvSpPr>
          <p:cNvPr id="13" name="line-132"/>
          <p:cNvSpPr/>
          <p:nvPr/>
        </p:nvSpPr>
        <p:spPr>
          <a:xfrm>
            <a:off x="7315200" y="3493008"/>
            <a:ext cx="0" cy="28346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hip-133"/>
          <p:cNvSpPr txBox="1"/>
          <p:nvPr/>
        </p:nvSpPr>
        <p:spPr>
          <a:xfrm>
            <a:off x="5943600" y="379476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CRASH!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Be an Edge Detective</a:t>
            </a:r>
            <a:endParaRPr lang="en-US" sz="3400" dirty="0"/>
          </a:p>
        </p:txBody>
      </p:sp>
      <p:sp>
        <p:nvSpPr>
          <p:cNvPr id="3" name="card-134"/>
          <p:cNvSpPr/>
          <p:nvPr/>
        </p:nvSpPr>
        <p:spPr>
          <a:xfrm>
            <a:off x="457200" y="128016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circle-135"/>
          <p:cNvSpPr txBox="1"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-136"/>
          <p:cNvSpPr txBox="1"/>
          <p:nvPr/>
        </p:nvSpPr>
        <p:spPr>
          <a:xfrm>
            <a:off x="54864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the rule</a:t>
            </a:r>
            <a:endParaRPr lang="en-US" sz="1600" dirty="0"/>
          </a:p>
        </p:txBody>
      </p:sp>
      <p:sp>
        <p:nvSpPr>
          <p:cNvPr id="6" name="text-137"/>
          <p:cNvSpPr txBox="1"/>
          <p:nvPr/>
        </p:nvSpPr>
        <p:spPr>
          <a:xfrm>
            <a:off x="54864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is allowed?</a:t>
            </a:r>
            <a:endParaRPr lang="en-US" sz="1300" dirty="0"/>
          </a:p>
        </p:txBody>
      </p:sp>
      <p:sp>
        <p:nvSpPr>
          <p:cNvPr id="7" name="chip-138"/>
          <p:cNvSpPr txBox="1"/>
          <p:nvPr/>
        </p:nvSpPr>
        <p:spPr>
          <a:xfrm>
            <a:off x="640080" y="338328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to 10</a:t>
            </a:r>
            <a:endParaRPr lang="en-US" sz="1400" dirty="0"/>
          </a:p>
        </p:txBody>
      </p:sp>
      <p:sp>
        <p:nvSpPr>
          <p:cNvPr id="8" name="line-139"/>
          <p:cNvSpPr/>
          <p:nvPr/>
        </p:nvSpPr>
        <p:spPr>
          <a:xfrm>
            <a:off x="2304288" y="2697480"/>
            <a:ext cx="265176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card-140"/>
          <p:cNvSpPr/>
          <p:nvPr/>
        </p:nvSpPr>
        <p:spPr>
          <a:xfrm>
            <a:off x="2587752" y="128016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circle-141"/>
          <p:cNvSpPr txBox="1"/>
          <p:nvPr/>
        </p:nvSpPr>
        <p:spPr>
          <a:xfrm>
            <a:off x="3182112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-142"/>
          <p:cNvSpPr txBox="1"/>
          <p:nvPr/>
        </p:nvSpPr>
        <p:spPr>
          <a:xfrm>
            <a:off x="2679192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limits</a:t>
            </a:r>
            <a:endParaRPr lang="en-US" sz="1600" dirty="0"/>
          </a:p>
        </p:txBody>
      </p:sp>
      <p:sp>
        <p:nvSpPr>
          <p:cNvPr id="12" name="text-143"/>
          <p:cNvSpPr txBox="1"/>
          <p:nvPr/>
        </p:nvSpPr>
        <p:spPr>
          <a:xfrm>
            <a:off x="2679192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Smallest and biggest</a:t>
            </a:r>
            <a:endParaRPr lang="en-US" sz="1300" dirty="0"/>
          </a:p>
        </p:txBody>
      </p:sp>
      <p:sp>
        <p:nvSpPr>
          <p:cNvPr id="13" name="chip-144"/>
          <p:cNvSpPr txBox="1"/>
          <p:nvPr/>
        </p:nvSpPr>
        <p:spPr>
          <a:xfrm>
            <a:off x="2770632" y="338328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and 10</a:t>
            </a:r>
            <a:endParaRPr lang="en-US" sz="1400" dirty="0"/>
          </a:p>
        </p:txBody>
      </p:sp>
      <p:sp>
        <p:nvSpPr>
          <p:cNvPr id="14" name="line-145"/>
          <p:cNvSpPr/>
          <p:nvPr/>
        </p:nvSpPr>
        <p:spPr>
          <a:xfrm>
            <a:off x="4434840" y="2697480"/>
            <a:ext cx="265176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card-146"/>
          <p:cNvSpPr/>
          <p:nvPr/>
        </p:nvSpPr>
        <p:spPr>
          <a:xfrm>
            <a:off x="4718304" y="128016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circle-147"/>
          <p:cNvSpPr txBox="1"/>
          <p:nvPr/>
        </p:nvSpPr>
        <p:spPr>
          <a:xfrm>
            <a:off x="5312664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-148"/>
          <p:cNvSpPr txBox="1"/>
          <p:nvPr/>
        </p:nvSpPr>
        <p:spPr>
          <a:xfrm>
            <a:off x="4809744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Pick tests</a:t>
            </a:r>
            <a:endParaRPr lang="en-US" sz="1600" dirty="0"/>
          </a:p>
        </p:txBody>
      </p:sp>
      <p:sp>
        <p:nvSpPr>
          <p:cNvPr id="18" name="text-149"/>
          <p:cNvSpPr txBox="1"/>
          <p:nvPr/>
        </p:nvSpPr>
        <p:spPr>
          <a:xfrm>
            <a:off x="4809744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Below, on, above</a:t>
            </a:r>
            <a:endParaRPr lang="en-US" sz="1300" dirty="0"/>
          </a:p>
        </p:txBody>
      </p:sp>
      <p:sp>
        <p:nvSpPr>
          <p:cNvPr id="19" name="chip-150"/>
          <p:cNvSpPr txBox="1"/>
          <p:nvPr/>
        </p:nvSpPr>
        <p:spPr>
          <a:xfrm>
            <a:off x="4901184" y="338328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0, 1, 10, 11</a:t>
            </a:r>
            <a:endParaRPr lang="en-US" sz="1400" dirty="0"/>
          </a:p>
        </p:txBody>
      </p:sp>
      <p:sp>
        <p:nvSpPr>
          <p:cNvPr id="20" name="line-151"/>
          <p:cNvSpPr/>
          <p:nvPr/>
        </p:nvSpPr>
        <p:spPr>
          <a:xfrm>
            <a:off x="6565392" y="2697480"/>
            <a:ext cx="265176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ard-152"/>
          <p:cNvSpPr/>
          <p:nvPr/>
        </p:nvSpPr>
        <p:spPr>
          <a:xfrm>
            <a:off x="6848856" y="128016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2" name="circle-153"/>
          <p:cNvSpPr txBox="1"/>
          <p:nvPr/>
        </p:nvSpPr>
        <p:spPr>
          <a:xfrm>
            <a:off x="7443216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-154"/>
          <p:cNvSpPr txBox="1"/>
          <p:nvPr/>
        </p:nvSpPr>
        <p:spPr>
          <a:xfrm>
            <a:off x="6940296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and fix</a:t>
            </a:r>
            <a:endParaRPr lang="en-US" sz="1600" dirty="0"/>
          </a:p>
        </p:txBody>
      </p:sp>
      <p:sp>
        <p:nvSpPr>
          <p:cNvPr id="24" name="text-155"/>
          <p:cNvSpPr txBox="1"/>
          <p:nvPr/>
        </p:nvSpPr>
        <p:spPr>
          <a:xfrm>
            <a:off x="6940296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Crash? Fix and retest</a:t>
            </a:r>
            <a:endParaRPr lang="en-US" sz="1300" dirty="0"/>
          </a:p>
        </p:txBody>
      </p:sp>
      <p:sp>
        <p:nvSpPr>
          <p:cNvPr id="25" name="chip-156"/>
          <p:cNvSpPr txBox="1"/>
          <p:nvPr/>
        </p:nvSpPr>
        <p:spPr>
          <a:xfrm>
            <a:off x="7031736" y="3383280"/>
            <a:ext cx="14630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retest!</a:t>
            </a:r>
            <a:endParaRPr lang="en-US" sz="1400" dirty="0"/>
          </a:p>
        </p:txBody>
      </p:sp>
      <p:sp>
        <p:nvSpPr>
          <p:cNvPr id="26" name="card-157"/>
          <p:cNvSpPr/>
          <p:nvPr/>
        </p:nvSpPr>
        <p:spPr>
          <a:xfrm>
            <a:off x="457200" y="4251960"/>
            <a:ext cx="822960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</p:sp>
      <p:sp>
        <p:nvSpPr>
          <p:cNvPr id="27" name="text-158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 these steps for every new feature you build.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Try It: Password Rule</a:t>
            </a:r>
            <a:endParaRPr lang="en-US" sz="3400" dirty="0"/>
          </a:p>
        </p:txBody>
      </p:sp>
      <p:sp>
        <p:nvSpPr>
          <p:cNvPr id="3" name="text-159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Rule: a password must be 6 to 12 characters long</a:t>
            </a:r>
            <a:endParaRPr lang="en-US" sz="1600" dirty="0"/>
          </a:p>
        </p:txBody>
      </p:sp>
      <p:sp>
        <p:nvSpPr>
          <p:cNvPr id="4" name="chip-160"/>
          <p:cNvSpPr txBox="1"/>
          <p:nvPr/>
        </p:nvSpPr>
        <p:spPr>
          <a:xfrm>
            <a:off x="457200" y="1417320"/>
            <a:ext cx="2743200" cy="329184"/>
          </a:xfrm>
          <a:prstGeom prst="roundRect">
            <a:avLst>
              <a:gd name="adj" fmla="val 33333"/>
            </a:avLst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Length</a:t>
            </a:r>
            <a:endParaRPr lang="en-US" sz="1300" dirty="0"/>
          </a:p>
        </p:txBody>
      </p:sp>
      <p:sp>
        <p:nvSpPr>
          <p:cNvPr id="5" name="chip-161"/>
          <p:cNvSpPr txBox="1"/>
          <p:nvPr/>
        </p:nvSpPr>
        <p:spPr>
          <a:xfrm>
            <a:off x="3291840" y="1417320"/>
            <a:ext cx="2560320" cy="329184"/>
          </a:xfrm>
          <a:prstGeom prst="roundRect">
            <a:avLst>
              <a:gd name="adj" fmla="val 33333"/>
            </a:avLst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Which kind?</a:t>
            </a:r>
            <a:endParaRPr lang="en-US" sz="1300" dirty="0"/>
          </a:p>
        </p:txBody>
      </p:sp>
      <p:sp>
        <p:nvSpPr>
          <p:cNvPr id="6" name="chip-162"/>
          <p:cNvSpPr txBox="1"/>
          <p:nvPr/>
        </p:nvSpPr>
        <p:spPr>
          <a:xfrm>
            <a:off x="5943600" y="1417320"/>
            <a:ext cx="2743200" cy="329184"/>
          </a:xfrm>
          <a:prstGeom prst="roundRect">
            <a:avLst>
              <a:gd name="adj" fmla="val 33333"/>
            </a:avLst>
          </a:prstGeom>
          <a:solidFill>
            <a:schemeClr val="tx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Should the app...</a:t>
            </a:r>
            <a:endParaRPr lang="en-US" sz="1300" dirty="0"/>
          </a:p>
        </p:txBody>
      </p:sp>
      <p:sp>
        <p:nvSpPr>
          <p:cNvPr id="7" name="chip-163"/>
          <p:cNvSpPr txBox="1"/>
          <p:nvPr/>
        </p:nvSpPr>
        <p:spPr>
          <a:xfrm>
            <a:off x="457200" y="18105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  (empty)</a:t>
            </a:r>
            <a:endParaRPr lang="en-US" sz="1400" dirty="0"/>
          </a:p>
        </p:txBody>
      </p:sp>
      <p:sp>
        <p:nvSpPr>
          <p:cNvPr id="8" name="chip-164"/>
          <p:cNvSpPr txBox="1"/>
          <p:nvPr/>
        </p:nvSpPr>
        <p:spPr>
          <a:xfrm>
            <a:off x="3291840" y="18105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</a:t>
            </a:r>
            <a:endParaRPr lang="en-US" sz="1400" dirty="0"/>
          </a:p>
        </p:txBody>
      </p:sp>
      <p:sp>
        <p:nvSpPr>
          <p:cNvPr id="9" name="chip-165"/>
          <p:cNvSpPr txBox="1"/>
          <p:nvPr/>
        </p:nvSpPr>
        <p:spPr>
          <a:xfrm>
            <a:off x="5943600" y="18105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</a:t>
            </a:r>
            <a:endParaRPr lang="en-US" sz="1400" dirty="0"/>
          </a:p>
        </p:txBody>
      </p:sp>
      <p:sp>
        <p:nvSpPr>
          <p:cNvPr id="10" name="chip-166"/>
          <p:cNvSpPr txBox="1"/>
          <p:nvPr/>
        </p:nvSpPr>
        <p:spPr>
          <a:xfrm>
            <a:off x="457200" y="22677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 (just below)</a:t>
            </a:r>
            <a:endParaRPr lang="en-US" sz="1400" dirty="0"/>
          </a:p>
        </p:txBody>
      </p:sp>
      <p:sp>
        <p:nvSpPr>
          <p:cNvPr id="11" name="chip-167"/>
          <p:cNvSpPr txBox="1"/>
          <p:nvPr/>
        </p:nvSpPr>
        <p:spPr>
          <a:xfrm>
            <a:off x="3291840" y="22677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</a:t>
            </a:r>
            <a:endParaRPr lang="en-US" sz="1400" dirty="0"/>
          </a:p>
        </p:txBody>
      </p:sp>
      <p:sp>
        <p:nvSpPr>
          <p:cNvPr id="12" name="chip-168"/>
          <p:cNvSpPr txBox="1"/>
          <p:nvPr/>
        </p:nvSpPr>
        <p:spPr>
          <a:xfrm>
            <a:off x="5943600" y="22677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</a:t>
            </a:r>
            <a:endParaRPr lang="en-US" sz="1400" dirty="0"/>
          </a:p>
        </p:txBody>
      </p:sp>
      <p:sp>
        <p:nvSpPr>
          <p:cNvPr id="13" name="chip-169"/>
          <p:cNvSpPr txBox="1"/>
          <p:nvPr/>
        </p:nvSpPr>
        <p:spPr>
          <a:xfrm>
            <a:off x="457200" y="27249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 (on the limit)</a:t>
            </a:r>
            <a:endParaRPr lang="en-US" sz="1400" dirty="0"/>
          </a:p>
        </p:txBody>
      </p:sp>
      <p:sp>
        <p:nvSpPr>
          <p:cNvPr id="14" name="chip-170"/>
          <p:cNvSpPr txBox="1"/>
          <p:nvPr/>
        </p:nvSpPr>
        <p:spPr>
          <a:xfrm>
            <a:off x="3291840" y="27249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</a:t>
            </a:r>
            <a:endParaRPr lang="en-US" sz="1400" dirty="0"/>
          </a:p>
        </p:txBody>
      </p:sp>
      <p:sp>
        <p:nvSpPr>
          <p:cNvPr id="15" name="chip-171"/>
          <p:cNvSpPr txBox="1"/>
          <p:nvPr/>
        </p:nvSpPr>
        <p:spPr>
          <a:xfrm>
            <a:off x="5943600" y="27249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Accept</a:t>
            </a:r>
            <a:endParaRPr lang="en-US" sz="1400" dirty="0"/>
          </a:p>
        </p:txBody>
      </p:sp>
      <p:sp>
        <p:nvSpPr>
          <p:cNvPr id="16" name="chip-172"/>
          <p:cNvSpPr txBox="1"/>
          <p:nvPr/>
        </p:nvSpPr>
        <p:spPr>
          <a:xfrm>
            <a:off x="457200" y="31821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 (middle)</a:t>
            </a:r>
            <a:endParaRPr lang="en-US" sz="1400" dirty="0"/>
          </a:p>
        </p:txBody>
      </p:sp>
      <p:sp>
        <p:nvSpPr>
          <p:cNvPr id="17" name="chip-173"/>
          <p:cNvSpPr txBox="1"/>
          <p:nvPr/>
        </p:nvSpPr>
        <p:spPr>
          <a:xfrm>
            <a:off x="3291840" y="31821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</a:t>
            </a:r>
            <a:endParaRPr lang="en-US" sz="1400" dirty="0"/>
          </a:p>
        </p:txBody>
      </p:sp>
      <p:sp>
        <p:nvSpPr>
          <p:cNvPr id="18" name="chip-174"/>
          <p:cNvSpPr txBox="1"/>
          <p:nvPr/>
        </p:nvSpPr>
        <p:spPr>
          <a:xfrm>
            <a:off x="5943600" y="31821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Accept</a:t>
            </a:r>
            <a:endParaRPr lang="en-US" sz="1400" dirty="0"/>
          </a:p>
        </p:txBody>
      </p:sp>
      <p:sp>
        <p:nvSpPr>
          <p:cNvPr id="19" name="chip-175"/>
          <p:cNvSpPr txBox="1"/>
          <p:nvPr/>
        </p:nvSpPr>
        <p:spPr>
          <a:xfrm>
            <a:off x="457200" y="36393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 (on the limit)</a:t>
            </a:r>
            <a:endParaRPr lang="en-US" sz="1400" dirty="0"/>
          </a:p>
        </p:txBody>
      </p:sp>
      <p:sp>
        <p:nvSpPr>
          <p:cNvPr id="20" name="chip-176"/>
          <p:cNvSpPr txBox="1"/>
          <p:nvPr/>
        </p:nvSpPr>
        <p:spPr>
          <a:xfrm>
            <a:off x="3291840" y="36393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</a:t>
            </a:r>
            <a:endParaRPr lang="en-US" sz="1400" dirty="0"/>
          </a:p>
        </p:txBody>
      </p:sp>
      <p:sp>
        <p:nvSpPr>
          <p:cNvPr id="21" name="chip-177"/>
          <p:cNvSpPr txBox="1"/>
          <p:nvPr/>
        </p:nvSpPr>
        <p:spPr>
          <a:xfrm>
            <a:off x="5943600" y="36393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Accept</a:t>
            </a:r>
            <a:endParaRPr lang="en-US" sz="1400" dirty="0"/>
          </a:p>
        </p:txBody>
      </p:sp>
      <p:sp>
        <p:nvSpPr>
          <p:cNvPr id="22" name="chip-178"/>
          <p:cNvSpPr txBox="1"/>
          <p:nvPr/>
        </p:nvSpPr>
        <p:spPr>
          <a:xfrm>
            <a:off x="457200" y="40965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 (just above)</a:t>
            </a:r>
            <a:endParaRPr lang="en-US" sz="1400" dirty="0"/>
          </a:p>
        </p:txBody>
      </p:sp>
      <p:sp>
        <p:nvSpPr>
          <p:cNvPr id="23" name="chip-179"/>
          <p:cNvSpPr txBox="1"/>
          <p:nvPr/>
        </p:nvSpPr>
        <p:spPr>
          <a:xfrm>
            <a:off x="3291840" y="4096512"/>
            <a:ext cx="2560320" cy="384048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</a:t>
            </a:r>
            <a:endParaRPr lang="en-US" sz="1400" dirty="0"/>
          </a:p>
        </p:txBody>
      </p:sp>
      <p:sp>
        <p:nvSpPr>
          <p:cNvPr id="24" name="chip-180"/>
          <p:cNvSpPr txBox="1"/>
          <p:nvPr/>
        </p:nvSpPr>
        <p:spPr>
          <a:xfrm>
            <a:off x="5943600" y="4096512"/>
            <a:ext cx="274320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Quiz</a:t>
            </a:r>
            <a:endParaRPr lang="en-US" sz="3400" dirty="0"/>
          </a:p>
        </p:txBody>
      </p:sp>
      <p:sp>
        <p:nvSpPr>
          <p:cNvPr id="3" name="text-18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Cover the tags and guess first!</a:t>
            </a:r>
            <a:endParaRPr lang="en-US" sz="1400" dirty="0"/>
          </a:p>
        </p:txBody>
      </p:sp>
      <p:sp>
        <p:nvSpPr>
          <p:cNvPr id="4" name="card-182"/>
          <p:cNvSpPr/>
          <p:nvPr/>
        </p:nvSpPr>
        <p:spPr>
          <a:xfrm>
            <a:off x="457200" y="1463040"/>
            <a:ext cx="4023360" cy="13716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circle-183"/>
          <p:cNvSpPr txBox="1"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6" name="text-184"/>
          <p:cNvSpPr txBox="1"/>
          <p:nvPr/>
        </p:nvSpPr>
        <p:spPr>
          <a:xfrm>
            <a:off x="1234440" y="1600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Pizza orders allow 1 to 10. Which tests are edge cases?</a:t>
            </a:r>
            <a:endParaRPr lang="en-US" sz="1400" dirty="0"/>
          </a:p>
        </p:txBody>
      </p:sp>
      <p:sp>
        <p:nvSpPr>
          <p:cNvPr id="7" name="chip-185"/>
          <p:cNvSpPr txBox="1"/>
          <p:nvPr/>
        </p:nvSpPr>
        <p:spPr>
          <a:xfrm>
            <a:off x="2286000" y="2359152"/>
            <a:ext cx="201168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 and 11</a:t>
            </a:r>
            <a:endParaRPr lang="en-US" sz="1400" dirty="0"/>
          </a:p>
        </p:txBody>
      </p:sp>
      <p:sp>
        <p:nvSpPr>
          <p:cNvPr id="8" name="card-186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circle-187"/>
          <p:cNvSpPr txBox="1"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0" name="text-188"/>
          <p:cNvSpPr txBox="1"/>
          <p:nvPr/>
        </p:nvSpPr>
        <p:spPr>
          <a:xfrm>
            <a:off x="5440680" y="1600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list of marks is empty. What may go wrong?</a:t>
            </a:r>
            <a:endParaRPr lang="en-US" sz="1400" dirty="0"/>
          </a:p>
        </p:txBody>
      </p:sp>
      <p:sp>
        <p:nvSpPr>
          <p:cNvPr id="11" name="chip-189"/>
          <p:cNvSpPr txBox="1"/>
          <p:nvPr/>
        </p:nvSpPr>
        <p:spPr>
          <a:xfrm>
            <a:off x="6492240" y="2359152"/>
            <a:ext cx="201168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Divide by zero</a:t>
            </a:r>
            <a:endParaRPr lang="en-US" sz="1400" dirty="0"/>
          </a:p>
        </p:txBody>
      </p:sp>
      <p:sp>
        <p:nvSpPr>
          <p:cNvPr id="12" name="card-190"/>
          <p:cNvSpPr/>
          <p:nvPr/>
        </p:nvSpPr>
        <p:spPr>
          <a:xfrm>
            <a:off x="457200" y="3017520"/>
            <a:ext cx="4023360" cy="13716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circle-191"/>
          <p:cNvSpPr txBox="1"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4" name="text-192"/>
          <p:cNvSpPr txBox="1"/>
          <p:nvPr/>
        </p:nvSpPr>
        <p:spPr>
          <a:xfrm>
            <a:off x="1234440" y="3154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 box allows 1 to 120. Is 0 a normal test?</a:t>
            </a:r>
            <a:endParaRPr lang="en-US" sz="1400" dirty="0"/>
          </a:p>
        </p:txBody>
      </p:sp>
      <p:sp>
        <p:nvSpPr>
          <p:cNvPr id="15" name="chip-193"/>
          <p:cNvSpPr txBox="1"/>
          <p:nvPr/>
        </p:nvSpPr>
        <p:spPr>
          <a:xfrm>
            <a:off x="2286000" y="3913632"/>
            <a:ext cx="201168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No, edge case</a:t>
            </a:r>
            <a:endParaRPr lang="en-US" sz="1400" dirty="0"/>
          </a:p>
        </p:txBody>
      </p:sp>
      <p:sp>
        <p:nvSpPr>
          <p:cNvPr id="16" name="card-194"/>
          <p:cNvSpPr/>
          <p:nvPr/>
        </p:nvSpPr>
        <p:spPr>
          <a:xfrm>
            <a:off x="4663440" y="3017520"/>
            <a:ext cx="4023360" cy="13716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circle-195"/>
          <p:cNvSpPr txBox="1"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8" name="text-196"/>
          <p:cNvSpPr txBox="1"/>
          <p:nvPr/>
        </p:nvSpPr>
        <p:spPr>
          <a:xfrm>
            <a:off x="5440680" y="3154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 type abc in a number box. What type of test?</a:t>
            </a:r>
            <a:endParaRPr lang="en-US" sz="1400" dirty="0"/>
          </a:p>
        </p:txBody>
      </p:sp>
      <p:sp>
        <p:nvSpPr>
          <p:cNvPr id="19" name="chip-197"/>
          <p:cNvSpPr txBox="1"/>
          <p:nvPr/>
        </p:nvSpPr>
        <p:spPr>
          <a:xfrm>
            <a:off x="6492240" y="3913632"/>
            <a:ext cx="201168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Wrong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Quick Recap</a:t>
            </a:r>
            <a:endParaRPr lang="en-US" sz="3400" dirty="0"/>
          </a:p>
        </p:txBody>
      </p:sp>
      <p:sp>
        <p:nvSpPr>
          <p:cNvPr id="3" name="circle-198"/>
          <p:cNvSpPr txBox="1"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-199"/>
          <p:cNvSpPr txBox="1"/>
          <p:nvPr/>
        </p:nvSpPr>
        <p:spPr>
          <a:xfrm>
            <a:off x="1325880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Edge case = a limit or odd input</a:t>
            </a:r>
            <a:endParaRPr lang="en-US" sz="1900" dirty="0"/>
          </a:p>
        </p:txBody>
      </p:sp>
      <p:sp>
        <p:nvSpPr>
          <p:cNvPr id="5" name="text-200"/>
          <p:cNvSpPr txBox="1"/>
          <p:nvPr/>
        </p:nvSpPr>
        <p:spPr>
          <a:xfrm>
            <a:off x="132588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first, last, empty, biggest</a:t>
            </a:r>
            <a:endParaRPr lang="en-US" sz="1400" dirty="0"/>
          </a:p>
        </p:txBody>
      </p:sp>
      <p:sp>
        <p:nvSpPr>
          <p:cNvPr id="6" name="circle-201"/>
          <p:cNvSpPr txBox="1"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7" name="text-202"/>
          <p:cNvSpPr txBox="1"/>
          <p:nvPr/>
        </p:nvSpPr>
        <p:spPr>
          <a:xfrm>
            <a:off x="132588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Test below, on and above</a:t>
            </a:r>
            <a:endParaRPr lang="en-US" sz="1900" dirty="0"/>
          </a:p>
        </p:txBody>
      </p:sp>
      <p:sp>
        <p:nvSpPr>
          <p:cNvPr id="8" name="text-203"/>
          <p:cNvSpPr txBox="1"/>
          <p:nvPr/>
        </p:nvSpPr>
        <p:spPr>
          <a:xfrm>
            <a:off x="132588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0, 1, 100, 101</a:t>
            </a:r>
            <a:endParaRPr lang="en-US" sz="1400" dirty="0"/>
          </a:p>
        </p:txBody>
      </p:sp>
      <p:sp>
        <p:nvSpPr>
          <p:cNvPr id="9" name="circle-204"/>
          <p:cNvSpPr txBox="1"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0" name="text-205"/>
          <p:cNvSpPr txBox="1"/>
          <p:nvPr/>
        </p:nvSpPr>
        <p:spPr>
          <a:xfrm>
            <a:off x="132588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The sneaky five</a:t>
            </a:r>
            <a:endParaRPr lang="en-US" sz="1900" dirty="0"/>
          </a:p>
        </p:txBody>
      </p:sp>
      <p:sp>
        <p:nvSpPr>
          <p:cNvPr id="11" name="text-206"/>
          <p:cNvSpPr txBox="1"/>
          <p:nvPr/>
        </p:nvSpPr>
        <p:spPr>
          <a:xfrm>
            <a:off x="132588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empty, zero, negative, huge, wrong type</a:t>
            </a:r>
            <a:endParaRPr lang="en-US" sz="1400" dirty="0"/>
          </a:p>
        </p:txBody>
      </p:sp>
      <p:sp>
        <p:nvSpPr>
          <p:cNvPr id="12" name="circle-207"/>
          <p:cNvSpPr txBox="1"/>
          <p:nvPr/>
        </p:nvSpPr>
        <p:spPr>
          <a:xfrm>
            <a:off x="5852160" y="128016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-208"/>
          <p:cNvSpPr txBox="1"/>
          <p:nvPr/>
        </p:nvSpPr>
        <p:spPr>
          <a:xfrm>
            <a:off x="585216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Thank You!</a:t>
            </a:r>
            <a:endParaRPr lang="en-US" sz="2800" dirty="0"/>
          </a:p>
        </p:txBody>
      </p:sp>
      <p:sp>
        <p:nvSpPr>
          <p:cNvPr id="14" name="text-209"/>
          <p:cNvSpPr txBox="1"/>
          <p:nvPr/>
        </p:nvSpPr>
        <p:spPr>
          <a:xfrm>
            <a:off x="58521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Any questions?</a:t>
            </a:r>
            <a:endParaRPr lang="en-US" sz="1800" dirty="0"/>
          </a:p>
        </p:txBody>
      </p:sp>
      <p:sp>
        <p:nvSpPr>
          <p:cNvPr id="15" name="circle-210"/>
          <p:cNvSpPr txBox="1"/>
          <p:nvPr/>
        </p:nvSpPr>
        <p:spPr>
          <a:xfrm>
            <a:off x="5577840" y="3931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circle-211"/>
          <p:cNvSpPr txBox="1"/>
          <p:nvPr/>
        </p:nvSpPr>
        <p:spPr>
          <a:xfrm>
            <a:off x="8229600" y="1005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yBox Plum">
  <a:themeElements>
    <a:clrScheme name="ToyBox Plum">
      <a:dk1>
        <a:srgbClr val="1F1235"/>
      </a:dk1>
      <a:lt1>
        <a:srgbClr val="FFFFFF"/>
      </a:lt1>
      <a:dk2>
        <a:srgbClr val="3B2A6B"/>
      </a:dk2>
      <a:lt2>
        <a:srgbClr val="F4EFFF"/>
      </a:lt2>
      <a:accent1>
        <a:srgbClr val="E8475A"/>
      </a:accent1>
      <a:accent2>
        <a:srgbClr val="FFC93C"/>
      </a:accent2>
      <a:accent3>
        <a:srgbClr val="14B8A6"/>
      </a:accent3>
      <a:accent4>
        <a:srgbClr val="7C5CFF"/>
      </a:accent4>
      <a:accent5>
        <a:srgbClr val="FF9F43"/>
      </a:accent5>
      <a:accent6>
        <a:srgbClr val="5BC96B"/>
      </a:accent6>
      <a:hlink>
        <a:srgbClr val="7C5CFF"/>
      </a:hlink>
      <a:folHlink>
        <a:srgbClr val="3B2A6B"/>
      </a:folHlink>
    </a:clrScheme>
    <a:fontScheme name="ToyBox Pl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Sets, Maps and Associative Collections</dc:title>
  <dc:subject>PptxGenJS Presentation</dc:subject>
  <dc:creator>Supradeep</dc:creator>
  <cp:lastModifiedBy>Supradeep</cp:lastModifiedBy>
  <cp:revision>1</cp:revision>
  <dcterms:created xsi:type="dcterms:W3CDTF">2026-10-12T05:41:05Z</dcterms:created>
  <dcterms:modified xsi:type="dcterms:W3CDTF">2026-10-12T05:41:05Z</dcterms:modified>
</cp:coreProperties>
</file>